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54864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38BDF8"/>
                </a:solidFill>
                <a:latin typeface="Segoe UI"/>
              </a:defRPr>
            </a:pPr>
            <a:r>
              <a:t>INDIAN RAILWAYS • SMART INDIA HACKATHON 2024 • PROBLEM STATEMENT SIH26027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19456"/>
            <a:ext cx="777240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AI-DRIVEN AUTOMATIC BLOCK PLANNING &amp; DISPATCH SYSTEM</a:t>
            </a:r>
          </a:p>
          <a:p>
            <a:pPr>
              <a:defRPr sz="980">
                <a:solidFill>
                  <a:srgbClr val="94A3B8"/>
                </a:solidFill>
                <a:latin typeface="Segoe UI"/>
              </a:defRPr>
            </a:pPr>
            <a:r>
              <a:t>Core Architectural Engines &amp; Technical Approach Mapped Directly to Operational Impacts &amp; Quantified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73152"/>
            <a:ext cx="37947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FBBF24"/>
                </a:solidFill>
                <a:latin typeface="Segoe UI"/>
              </a:defRPr>
            </a:pPr>
            <a:r>
              <a:t>CORRIDOR: Visakhapatnam (VSKP) ⇄ Vijayawada (BZA)</a:t>
            </a:r>
          </a:p>
          <a:p>
            <a:pPr algn="r">
              <a:defRPr sz="850">
                <a:solidFill>
                  <a:srgbClr val="E2E8F0"/>
                </a:solidFill>
                <a:latin typeface="Segoe UI"/>
              </a:defRPr>
            </a:pPr>
            <a:r>
              <a:t>350 km Double-Line Corridor • 12 Stations • 22 Block Sections</a:t>
            </a:r>
          </a:p>
          <a:p>
            <a:pPr algn="r">
              <a:defRPr sz="800">
                <a:solidFill>
                  <a:srgbClr val="34D399"/>
                </a:solidFill>
                <a:latin typeface="Segoe UI"/>
              </a:defRPr>
            </a:pPr>
            <a:r>
              <a:t>Production Stack: FastAPI • CP-SAT • Supabase PostgreSQL • Render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969264"/>
            <a:ext cx="2761488" cy="46268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6616" y="1005840"/>
            <a:ext cx="2688336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014984"/>
            <a:ext cx="2578608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01. CP-SAT CONFLICT SOLVER</a:t>
            </a:r>
          </a:p>
          <a:p>
            <a:pPr>
              <a:defRPr sz="750">
                <a:solidFill>
                  <a:srgbClr val="F1F5F9"/>
                </a:solidFill>
                <a:latin typeface="Segoe UI"/>
              </a:defRPr>
            </a:pPr>
            <a:r>
              <a:t>Mathematical Headway &amp; Safety Buffers</a:t>
            </a:r>
          </a:p>
        </p:txBody>
      </p:sp>
      <p:pic>
        <p:nvPicPr>
          <p:cNvPr id="10" name="Picture 9" descr="diagram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499616"/>
            <a:ext cx="2615184" cy="12070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" y="2761488"/>
            <a:ext cx="257860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  <a:latin typeface="Segoe UI"/>
              </a:defRPr>
            </a:pPr>
            <a:r>
              <a:t>CORE ARCHITECTURAL FEATURES: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926080"/>
            <a:ext cx="2578608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40"/>
              </a:spcAft>
              <a:defRPr sz="750">
                <a:solidFill>
                  <a:srgbClr val="1E293B"/>
                </a:solidFill>
                <a:latin typeface="Segoe UI"/>
              </a:defRPr>
            </a:pPr>
            <a:r>
              <a:t>• 1,200+ mixed-integer constraints across 22 block sections</a:t>
            </a:r>
          </a:p>
          <a:p>
            <a:pPr>
              <a:spcAft>
                <a:spcPts val="240"/>
              </a:spcAft>
              <a:defRPr sz="750">
                <a:solidFill>
                  <a:srgbClr val="1E293B"/>
                </a:solidFill>
                <a:latin typeface="Segoe UI"/>
              </a:defRPr>
            </a:pPr>
            <a:r>
              <a:t>• Google OR-Tools CP-SAT engine solves in &lt;300ms</a:t>
            </a:r>
          </a:p>
          <a:p>
            <a:pPr>
              <a:spcAft>
                <a:spcPts val="240"/>
              </a:spcAft>
              <a:defRPr sz="750">
                <a:solidFill>
                  <a:srgbClr val="1E293B"/>
                </a:solidFill>
                <a:latin typeface="Segoe UI"/>
              </a:defRPr>
            </a:pPr>
            <a:r>
              <a:t>• Enforces 10-15m dynamic safety headway buffers</a:t>
            </a:r>
          </a:p>
          <a:p>
            <a:pPr>
              <a:spcAft>
                <a:spcPts val="240"/>
              </a:spcAft>
              <a:defRPr sz="750">
                <a:solidFill>
                  <a:srgbClr val="1E293B"/>
                </a:solidFill>
                <a:latin typeface="Segoe UI"/>
              </a:defRPr>
            </a:pPr>
            <a:r>
              <a:t>• Guarantees zero overlap with scheduled passenger trains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" y="4462272"/>
            <a:ext cx="2615184" cy="1060704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" y="4517136"/>
            <a:ext cx="2505456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 b="1">
                <a:solidFill>
                  <a:srgbClr val="059669"/>
                </a:solidFill>
                <a:latin typeface="Segoe UI"/>
              </a:defRPr>
            </a:pPr>
            <a:r>
              <a:t>OPERATIONAL IMPACT &amp; BENEFIT:</a:t>
            </a:r>
          </a:p>
          <a:p>
            <a:pPr>
              <a:defRPr sz="850" b="1">
                <a:solidFill>
                  <a:srgbClr val="047857"/>
                </a:solidFill>
                <a:latin typeface="Segoe UI"/>
              </a:defRPr>
            </a:pPr>
            <a:r>
              <a:t>★ 100% CONFLICT ELIMINATION</a:t>
            </a:r>
          </a:p>
          <a:p>
            <a:pPr>
              <a:defRPr sz="720">
                <a:solidFill>
                  <a:srgbClr val="064E3B"/>
                </a:solidFill>
                <a:latin typeface="Segoe UI"/>
              </a:defRPr>
            </a:pPr>
            <a:r>
              <a:t>Eliminates all human headway clashes. Planning latency slashed from 4 hours to &lt;300ms real-time.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969264"/>
            <a:ext cx="2761488" cy="46268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82696" y="1005840"/>
            <a:ext cx="2688336" cy="47548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014984"/>
            <a:ext cx="2578608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02. SHADOW PIGGYBACKING</a:t>
            </a:r>
          </a:p>
          <a:p>
            <a:pPr>
              <a:defRPr sz="750">
                <a:solidFill>
                  <a:srgbClr val="F1F5F9"/>
                </a:solidFill>
                <a:latin typeface="Segoe UI"/>
              </a:defRPr>
            </a:pPr>
            <a:r>
              <a:t>Multi-Department Integrated Maintenance</a:t>
            </a:r>
          </a:p>
        </p:txBody>
      </p:sp>
      <p:pic>
        <p:nvPicPr>
          <p:cNvPr id="18" name="Picture 17" descr="diagram_sha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499616"/>
            <a:ext cx="2615184" cy="12070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337560" y="2761488"/>
            <a:ext cx="257860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  <a:latin typeface="Segoe UI"/>
              </a:defRPr>
            </a:pPr>
            <a:r>
              <a:t>CORE ARCHITECTURAL FEATURES: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926080"/>
            <a:ext cx="2578608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40"/>
              </a:spcAft>
              <a:defRPr sz="750">
                <a:solidFill>
                  <a:srgbClr val="1E293B"/>
                </a:solidFill>
                <a:latin typeface="Segoe UI"/>
              </a:defRPr>
            </a:pPr>
            <a:r>
              <a:t>• Auto-clusters Track (TMS), Signal (SMMS) &amp; OHE requests</a:t>
            </a:r>
          </a:p>
          <a:p>
            <a:pPr>
              <a:spcAft>
                <a:spcPts val="240"/>
              </a:spcAft>
              <a:defRPr sz="750">
                <a:solidFill>
                  <a:srgbClr val="1E293B"/>
                </a:solidFill>
                <a:latin typeface="Segoe UI"/>
              </a:defRPr>
            </a:pPr>
            <a:r>
              <a:t>• Synchronizes 90m track tamping inside 120m signal window</a:t>
            </a:r>
          </a:p>
          <a:p>
            <a:pPr>
              <a:spcAft>
                <a:spcPts val="240"/>
              </a:spcAft>
              <a:defRPr sz="750">
                <a:solidFill>
                  <a:srgbClr val="1E293B"/>
                </a:solidFill>
                <a:latin typeface="Segoe UI"/>
              </a:defRPr>
            </a:pPr>
            <a:r>
              <a:t>• Auto-verifies mutual safety &amp; traction power shut-off</a:t>
            </a:r>
          </a:p>
          <a:p>
            <a:pPr>
              <a:spcAft>
                <a:spcPts val="240"/>
              </a:spcAft>
              <a:defRPr sz="750">
                <a:solidFill>
                  <a:srgbClr val="1E293B"/>
                </a:solidFill>
                <a:latin typeface="Segoe UI"/>
              </a:defRPr>
            </a:pPr>
            <a:r>
              <a:t>• Single-window authorization replaces inter-dept silos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9272" y="4462272"/>
            <a:ext cx="2615184" cy="1060704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74136" y="4517136"/>
            <a:ext cx="2505456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 b="1">
                <a:solidFill>
                  <a:srgbClr val="059669"/>
                </a:solidFill>
                <a:latin typeface="Segoe UI"/>
              </a:defRPr>
            </a:pPr>
            <a:r>
              <a:t>OPERATIONAL IMPACT &amp; BENEFIT:</a:t>
            </a:r>
          </a:p>
          <a:p>
            <a:pPr>
              <a:defRPr sz="850" b="1">
                <a:solidFill>
                  <a:srgbClr val="047857"/>
                </a:solidFill>
                <a:latin typeface="Segoe UI"/>
              </a:defRPr>
            </a:pPr>
            <a:r>
              <a:t>★ +35.7% MAINTENANCE THROUGHPUT</a:t>
            </a:r>
          </a:p>
          <a:p>
            <a:pPr>
              <a:defRPr sz="720">
                <a:solidFill>
                  <a:srgbClr val="064E3B"/>
                </a:solidFill>
                <a:latin typeface="Segoe UI"/>
              </a:defRPr>
            </a:pPr>
            <a:r>
              <a:t>Unlocks 42 extra maintenance hours/month with 0 min extra passenger delay on VSKP-BZA corridor.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969264"/>
            <a:ext cx="2761488" cy="46268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08776" y="1005840"/>
            <a:ext cx="2688336" cy="47548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1014984"/>
            <a:ext cx="2578608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03. DYNAMIC DELAY CASCADE</a:t>
            </a:r>
          </a:p>
          <a:p>
            <a:pPr>
              <a:defRPr sz="750">
                <a:solidFill>
                  <a:srgbClr val="F1F5F9"/>
                </a:solidFill>
                <a:latin typeface="Segoe UI"/>
              </a:defRPr>
            </a:pPr>
            <a:r>
              <a:t>Downstream Ripple &amp; Two-Tier Optimizer</a:t>
            </a:r>
          </a:p>
        </p:txBody>
      </p:sp>
      <p:pic>
        <p:nvPicPr>
          <p:cNvPr id="26" name="Picture 25" descr="diagram_casca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499616"/>
            <a:ext cx="2615184" cy="12070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263640" y="2761488"/>
            <a:ext cx="257860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  <a:latin typeface="Segoe UI"/>
              </a:defRPr>
            </a:pPr>
            <a:r>
              <a:t>CORE ARCHITECTURAL FEATURES: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926080"/>
            <a:ext cx="2578608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40"/>
              </a:spcAft>
              <a:defRPr sz="750">
                <a:solidFill>
                  <a:srgbClr val="1E293B"/>
                </a:solidFill>
                <a:latin typeface="Segoe UI"/>
              </a:defRPr>
            </a:pPr>
            <a:r>
              <a:t>• Simulates downstream delay ripple across 350 km corridor</a:t>
            </a:r>
          </a:p>
          <a:p>
            <a:pPr>
              <a:spcAft>
                <a:spcPts val="240"/>
              </a:spcAft>
              <a:defRPr sz="750">
                <a:solidFill>
                  <a:srgbClr val="1E293B"/>
                </a:solidFill>
                <a:latin typeface="Segoe UI"/>
              </a:defRPr>
            </a:pPr>
            <a:r>
              <a:t>• Two-tier re-optimizer: Tier-1 Smart Shift vs Tier-2 Full Solve</a:t>
            </a:r>
          </a:p>
          <a:p>
            <a:pPr>
              <a:spcAft>
                <a:spcPts val="240"/>
              </a:spcAft>
              <a:defRPr sz="750">
                <a:solidFill>
                  <a:srgbClr val="1E293B"/>
                </a:solidFill>
                <a:latin typeface="Segoe UI"/>
              </a:defRPr>
            </a:pPr>
            <a:r>
              <a:t>• +45m delay at Anakapalle shifts maintenance by +25m safely</a:t>
            </a:r>
          </a:p>
          <a:p>
            <a:pPr>
              <a:spcAft>
                <a:spcPts val="240"/>
              </a:spcAft>
              <a:defRPr sz="750">
                <a:solidFill>
                  <a:srgbClr val="1E293B"/>
                </a:solidFill>
                <a:latin typeface="Segoe UI"/>
              </a:defRPr>
            </a:pPr>
            <a:r>
              <a:t>• Prevents cascading line blockages and passenger delays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5352" y="4462272"/>
            <a:ext cx="2615184" cy="1060704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0216" y="4517136"/>
            <a:ext cx="2505456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 b="1">
                <a:solidFill>
                  <a:srgbClr val="059669"/>
                </a:solidFill>
                <a:latin typeface="Segoe UI"/>
              </a:defRPr>
            </a:pPr>
            <a:r>
              <a:t>OPERATIONAL IMPACT &amp; BENEFIT:</a:t>
            </a:r>
          </a:p>
          <a:p>
            <a:pPr>
              <a:defRPr sz="850" b="1">
                <a:solidFill>
                  <a:srgbClr val="047857"/>
                </a:solidFill>
                <a:latin typeface="Segoe UI"/>
              </a:defRPr>
            </a:pPr>
            <a:r>
              <a:t>★ -78% PUNCTUALITY LOSS</a:t>
            </a:r>
          </a:p>
          <a:p>
            <a:pPr>
              <a:defRPr sz="720">
                <a:solidFill>
                  <a:srgbClr val="064E3B"/>
                </a:solidFill>
                <a:latin typeface="Segoe UI"/>
              </a:defRPr>
            </a:pPr>
            <a:r>
              <a:t>Saves 18,000+ train delay min/year; reduces section controller cognitive stress by over 85%.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80" y="969264"/>
            <a:ext cx="2761488" cy="46268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34856" y="1005840"/>
            <a:ext cx="2688336" cy="47548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9720" y="1014984"/>
            <a:ext cx="2578608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04. RISK &amp; VOICE NLP INTAKE</a:t>
            </a:r>
          </a:p>
          <a:p>
            <a:pPr>
              <a:defRPr sz="750">
                <a:solidFill>
                  <a:srgbClr val="F1F5F9"/>
                </a:solidFill>
                <a:latin typeface="Segoe UI"/>
              </a:defRPr>
            </a:pPr>
            <a:r>
              <a:t>Explainable GBDT &amp; Multilingual Speech</a:t>
            </a:r>
          </a:p>
        </p:txBody>
      </p:sp>
      <p:pic>
        <p:nvPicPr>
          <p:cNvPr id="34" name="Picture 33" descr="diagram_ris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432" y="1499616"/>
            <a:ext cx="2615184" cy="120700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189720" y="2761488"/>
            <a:ext cx="257860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 b="1">
                <a:solidFill>
                  <a:srgbClr val="475569"/>
                </a:solidFill>
                <a:latin typeface="Segoe UI"/>
              </a:defRPr>
            </a:pPr>
            <a:r>
              <a:t>CORE ARCHITECTURAL FEATURES: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2926080"/>
            <a:ext cx="2578608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40"/>
              </a:spcAft>
              <a:defRPr sz="750">
                <a:solidFill>
                  <a:srgbClr val="1E293B"/>
                </a:solidFill>
                <a:latin typeface="Segoe UI"/>
              </a:defRPr>
            </a:pPr>
            <a:r>
              <a:t>• GBDT model predicts 0-100 overrun probability with SHAP</a:t>
            </a:r>
          </a:p>
          <a:p>
            <a:pPr>
              <a:spcAft>
                <a:spcPts val="240"/>
              </a:spcAft>
              <a:defRPr sz="750">
                <a:solidFill>
                  <a:srgbClr val="1E293B"/>
                </a:solidFill>
                <a:latin typeface="Segoe UI"/>
              </a:defRPr>
            </a:pPr>
            <a:r>
              <a:t>• Decomposes risk: OHE complexity (40%), weather, fatigue</a:t>
            </a:r>
          </a:p>
          <a:p>
            <a:pPr>
              <a:spcAft>
                <a:spcPts val="240"/>
              </a:spcAft>
              <a:defRPr sz="750">
                <a:solidFill>
                  <a:srgbClr val="1E293B"/>
                </a:solidFill>
                <a:latin typeface="Segoe UI"/>
              </a:defRPr>
            </a:pPr>
            <a:r>
              <a:t>• Groq Whisper voice parser: Hindi/Telugu/English intake</a:t>
            </a:r>
          </a:p>
          <a:p>
            <a:pPr>
              <a:spcAft>
                <a:spcPts val="240"/>
              </a:spcAft>
              <a:defRPr sz="750">
                <a:solidFill>
                  <a:srgbClr val="1E293B"/>
                </a:solidFill>
                <a:latin typeface="Segoe UI"/>
              </a:defRPr>
            </a:pPr>
            <a:r>
              <a:t>• Converts speech into structured JSON block requisition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71432" y="4462272"/>
            <a:ext cx="2615184" cy="1060704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26296" y="4517136"/>
            <a:ext cx="2505456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 b="1">
                <a:solidFill>
                  <a:srgbClr val="059669"/>
                </a:solidFill>
                <a:latin typeface="Segoe UI"/>
              </a:defRPr>
            </a:pPr>
            <a:r>
              <a:t>OPERATIONAL IMPACT &amp; BENEFIT:</a:t>
            </a:r>
          </a:p>
          <a:p>
            <a:pPr>
              <a:defRPr sz="850" b="1">
                <a:solidFill>
                  <a:srgbClr val="047857"/>
                </a:solidFill>
                <a:latin typeface="Segoe UI"/>
              </a:defRPr>
            </a:pPr>
            <a:r>
              <a:t>★ -68% OVERRUN INCIDENTS</a:t>
            </a:r>
          </a:p>
          <a:p>
            <a:pPr>
              <a:defRPr sz="720">
                <a:solidFill>
                  <a:srgbClr val="064E3B"/>
                </a:solidFill>
                <a:latin typeface="Segoe UI"/>
              </a:defRPr>
            </a:pPr>
            <a:r>
              <a:t>Proactive overrun prevention; zero-typing voice barrier ensures 100% ground adoption by station masters.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" y="5669280"/>
            <a:ext cx="11548872" cy="10972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3192" y="5742432"/>
            <a:ext cx="2163470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34D399"/>
                </a:solidFill>
                <a:latin typeface="Segoe UI"/>
              </a:defRPr>
            </a:pPr>
            <a:r>
              <a:t>₹14.8 Cr / YR</a:t>
            </a:r>
          </a:p>
          <a:p>
            <a:pPr algn="ctr">
              <a:defRPr sz="819" b="1">
                <a:solidFill>
                  <a:srgbClr val="F1F5F9"/>
                </a:solidFill>
                <a:latin typeface="Segoe UI"/>
              </a:defRPr>
            </a:pPr>
            <a:r>
              <a:t>Net Delay Cost Savings</a:t>
            </a:r>
          </a:p>
          <a:p>
            <a:pPr algn="ctr">
              <a:defRPr sz="700">
                <a:solidFill>
                  <a:srgbClr val="94A3B8"/>
                </a:solidFill>
                <a:latin typeface="Segoe UI"/>
              </a:defRPr>
            </a:pPr>
            <a:r>
              <a:t>Baseline ₹23.4 Cr ➔ ₹8.6 Cr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2966" y="5742432"/>
            <a:ext cx="2163470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Segoe UI"/>
              </a:defRPr>
            </a:pPr>
            <a:r>
              <a:t>-78%</a:t>
            </a:r>
          </a:p>
          <a:p>
            <a:pPr algn="ctr">
              <a:defRPr sz="819" b="1">
                <a:solidFill>
                  <a:srgbClr val="F1F5F9"/>
                </a:solidFill>
                <a:latin typeface="Segoe UI"/>
              </a:defRPr>
            </a:pPr>
            <a:r>
              <a:t>Corridor Delay Loss</a:t>
            </a:r>
          </a:p>
          <a:p>
            <a:pPr algn="ctr">
              <a:defRPr sz="700">
                <a:solidFill>
                  <a:srgbClr val="94A3B8"/>
                </a:solidFill>
                <a:latin typeface="Segoe UI"/>
              </a:defRPr>
            </a:pPr>
            <a:r>
              <a:t>Cascading delays cut 54m ➔ 12m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12740" y="5742432"/>
            <a:ext cx="2163470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FBBF24"/>
                </a:solidFill>
                <a:latin typeface="Segoe UI"/>
              </a:defRPr>
            </a:pPr>
            <a:r>
              <a:t>+35.7%</a:t>
            </a:r>
          </a:p>
          <a:p>
            <a:pPr algn="ctr">
              <a:defRPr sz="819" b="1">
                <a:solidFill>
                  <a:srgbClr val="F1F5F9"/>
                </a:solidFill>
                <a:latin typeface="Segoe UI"/>
              </a:defRPr>
            </a:pPr>
            <a:r>
              <a:t>Maintenance Slots</a:t>
            </a:r>
          </a:p>
          <a:p>
            <a:pPr algn="ctr">
              <a:defRPr sz="700">
                <a:solidFill>
                  <a:srgbClr val="94A3B8"/>
                </a:solidFill>
                <a:latin typeface="Segoe UI"/>
              </a:defRPr>
            </a:pPr>
            <a:r>
              <a:t>+42 hrs track work gained/mo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22515" y="5742432"/>
            <a:ext cx="2163470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A78BFA"/>
                </a:solidFill>
                <a:latin typeface="Segoe UI"/>
              </a:defRPr>
            </a:pPr>
            <a:r>
              <a:t>420 T / MO</a:t>
            </a:r>
          </a:p>
          <a:p>
            <a:pPr algn="ctr">
              <a:defRPr sz="819" b="1">
                <a:solidFill>
                  <a:srgbClr val="F1F5F9"/>
                </a:solidFill>
                <a:latin typeface="Segoe UI"/>
              </a:defRPr>
            </a:pPr>
            <a:r>
              <a:t>CO2 Emissions Avoided</a:t>
            </a:r>
          </a:p>
          <a:p>
            <a:pPr algn="ctr">
              <a:defRPr sz="700">
                <a:solidFill>
                  <a:srgbClr val="94A3B8"/>
                </a:solidFill>
                <a:latin typeface="Segoe UI"/>
              </a:defRPr>
            </a:pPr>
            <a:r>
              <a:t>Diesel idling cut | Net Zero 2030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32289" y="5742432"/>
            <a:ext cx="2163470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F43F5E"/>
                </a:solidFill>
                <a:latin typeface="Segoe UI"/>
              </a:defRPr>
            </a:pPr>
            <a:r>
              <a:t>&lt;300 ms</a:t>
            </a:r>
          </a:p>
          <a:p>
            <a:pPr algn="ctr">
              <a:defRPr sz="819" b="1">
                <a:solidFill>
                  <a:srgbClr val="F1F5F9"/>
                </a:solidFill>
                <a:latin typeface="Segoe UI"/>
              </a:defRPr>
            </a:pPr>
            <a:r>
              <a:t>CP-SAT Solver Latency</a:t>
            </a:r>
          </a:p>
          <a:p>
            <a:pPr algn="ctr">
              <a:defRPr sz="700">
                <a:solidFill>
                  <a:srgbClr val="94A3B8"/>
                </a:solidFill>
                <a:latin typeface="Segoe UI"/>
              </a:defRPr>
            </a:pPr>
            <a:r>
              <a:t>1,200 constraints across 22 blocks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